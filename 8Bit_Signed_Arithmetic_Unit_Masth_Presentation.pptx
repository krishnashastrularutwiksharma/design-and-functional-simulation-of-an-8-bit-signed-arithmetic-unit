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4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/>
              <a:t>Design and Functional Simulation of an</a:t>
            </a:r>
            <a:br>
              <a:rPr dirty="0"/>
            </a:br>
            <a:r>
              <a:rPr dirty="0"/>
              <a:t>8-Bit Signed Arithmetic Unit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657600"/>
            <a:ext cx="3200400" cy="54864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127240"/>
            <a:ext cx="7315200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</a:pPr>
            <a:r>
              <a:rPr sz="2400" b="1" dirty="0">
                <a:solidFill>
                  <a:srgbClr val="64FFDA"/>
                </a:solidFill>
              </a:rPr>
              <a:t>Presented By:</a:t>
            </a:r>
            <a:endParaRPr lang="en-IN" sz="2400" b="1" dirty="0">
              <a:solidFill>
                <a:srgbClr val="64FFDA"/>
              </a:solidFill>
            </a:endParaRPr>
          </a:p>
          <a:p>
            <a:pPr>
              <a:spcAft>
                <a:spcPts val="400"/>
              </a:spcAft>
            </a:pPr>
            <a:r>
              <a:rPr lang="en-IN" sz="2400" b="1" dirty="0">
                <a:solidFill>
                  <a:srgbClr val="64FFDA"/>
                </a:solidFill>
              </a:rPr>
              <a:t>2620030181 = </a:t>
            </a:r>
            <a:r>
              <a:rPr sz="2400" b="1" dirty="0">
                <a:solidFill>
                  <a:srgbClr val="64FFDA"/>
                </a:solidFill>
              </a:rPr>
              <a:t> </a:t>
            </a:r>
            <a:r>
              <a:rPr lang="en-IN" sz="2400" b="1" dirty="0">
                <a:solidFill>
                  <a:srgbClr val="64FFDA"/>
                </a:solidFill>
              </a:rPr>
              <a:t>Siddarth</a:t>
            </a:r>
          </a:p>
          <a:p>
            <a:pPr>
              <a:spcAft>
                <a:spcPts val="400"/>
              </a:spcAft>
            </a:pPr>
            <a:r>
              <a:rPr lang="en-IN" sz="2400" b="1" dirty="0">
                <a:solidFill>
                  <a:srgbClr val="64FFDA"/>
                </a:solidFill>
              </a:rPr>
              <a:t>2620030220 = Rutwik Sharma</a:t>
            </a:r>
          </a:p>
          <a:p>
            <a:pPr>
              <a:spcAft>
                <a:spcPts val="400"/>
              </a:spcAft>
            </a:pPr>
            <a:r>
              <a:rPr lang="en-US" sz="2400" b="1" dirty="0">
                <a:solidFill>
                  <a:srgbClr val="64FFDA"/>
                </a:solidFill>
              </a:rPr>
              <a:t>2620030227 = G. </a:t>
            </a:r>
            <a:r>
              <a:rPr lang="en-US" sz="2400" b="1">
                <a:solidFill>
                  <a:srgbClr val="64FFDA"/>
                </a:solidFill>
              </a:rPr>
              <a:t>Yashasvi</a:t>
            </a:r>
            <a:endParaRPr lang="en-US" sz="2400" dirty="0">
              <a:solidFill>
                <a:srgbClr val="CCD6F6"/>
              </a:solidFill>
            </a:endParaRPr>
          </a:p>
          <a:p>
            <a:pPr>
              <a:spcAft>
                <a:spcPts val="400"/>
              </a:spcAft>
            </a:pPr>
            <a:r>
              <a:rPr lang="en-IN" sz="2400" b="1" dirty="0">
                <a:solidFill>
                  <a:srgbClr val="64FFDA"/>
                </a:solidFill>
              </a:rPr>
              <a:t>2620030232 = Y. Abhinav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291840" cy="3840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64FFDA"/>
                </a:solidFill>
              </a:defRPr>
            </a:pPr>
            <a:r>
              <a:t>Microprocessor Foundations</a:t>
            </a:r>
          </a:p>
          <a:p>
            <a:pPr>
              <a:defRPr sz="1400">
                <a:solidFill>
                  <a:srgbClr val="CCD6F6"/>
                </a:solidFill>
              </a:defRPr>
            </a:pPr>
            <a:r>
              <a:t>The Arithmetic Logic Unit (ALU) serves as the engine of any processor, fulfilling all math instructions.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291840" cy="3840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64FFDA"/>
                </a:solidFill>
              </a:defRPr>
            </a:pPr>
            <a:r>
              <a:t>Domain Overview</a:t>
            </a:r>
          </a:p>
          <a:p>
            <a:pPr>
              <a:defRPr sz="1400">
                <a:solidFill>
                  <a:srgbClr val="CCD6F6"/>
                </a:solidFill>
              </a:defRPr>
            </a:pPr>
            <a:r>
              <a:t>Digital System Design using synthesizable Hardware Description Languages (Verilog HDL).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011680"/>
            <a:ext cx="3291840" cy="3840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64FFDA"/>
                </a:solidFill>
              </a:defRPr>
            </a:pPr>
            <a:r>
              <a:t>Significance of Core</a:t>
            </a:r>
          </a:p>
          <a:p>
            <a:pPr>
              <a:defRPr sz="1400">
                <a:solidFill>
                  <a:srgbClr val="CCD6F6"/>
                </a:solidFill>
              </a:defRPr>
            </a:pPr>
            <a:r>
              <a:t>Real-world math operates natively on signed scales. Implementing a rigid 2's complement layer prevents dynamic data corruption.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The Architectural Challenge: </a:t>
            </a:r>
            <a:r>
              <a:rPr sz="1600">
                <a:solidFill>
                  <a:srgbClr val="CCD6F6"/>
                </a:solidFill>
              </a:rPr>
              <a:t>Seamlessly managing math transformations across both dynamic positive and negative boundaries concurrently.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Traditional System Deficiencies: </a:t>
            </a:r>
            <a:r>
              <a:rPr sz="1600">
                <a:solidFill>
                  <a:srgbClr val="CCD6F6"/>
                </a:solidFill>
              </a:rPr>
              <a:t>Standard unsigned adders do not understand structural negative arithmetic weights without heavy external tracking setups, which results in significant processing latency and massive logic gate consumption.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The Hardware Need: </a:t>
            </a:r>
            <a:r>
              <a:rPr sz="1600">
                <a:solidFill>
                  <a:srgbClr val="CCD6F6"/>
                </a:solidFill>
              </a:rPr>
              <a:t>An dedicated 8-bit signed math block that tracks boundary errors automatically and flags status flags (Negative, Overflow, Zero) within a single execution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FFDA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Hardware Architecture</a:t>
            </a:r>
          </a:p>
          <a:p>
            <a:pPr>
              <a:defRPr sz="1300">
                <a:solidFill>
                  <a:srgbClr val="CCD6F6"/>
                </a:solidFill>
              </a:defRPr>
            </a:pPr>
            <a:r>
              <a:t>Design an efficient 8-bit pipeline architecture supporting unified signed addition, subtraction, increment, and decrement configurations.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288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FFDA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Verilog Modeling</a:t>
            </a:r>
          </a:p>
          <a:p>
            <a:pPr>
              <a:defRPr sz="1300">
                <a:solidFill>
                  <a:srgbClr val="CCD6F6"/>
                </a:solidFill>
              </a:defRPr>
            </a:pPr>
            <a:r>
              <a:t>Implement clean, modular, and fully synthesizable behavioral structures via structural HDL matrices.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FFDA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023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Dynamic Flags</a:t>
            </a:r>
          </a:p>
          <a:p>
            <a:pPr>
              <a:defRPr sz="1300">
                <a:solidFill>
                  <a:srgbClr val="CCD6F6"/>
                </a:solidFill>
              </a:defRPr>
            </a:pPr>
            <a:r>
              <a:t>Integrate automated, micro-instantaneous status flags for Overflow (V), Zero (Z), and Sign/Negative (N).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0233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4FFDA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023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Boundary Testing</a:t>
            </a:r>
          </a:p>
          <a:p>
            <a:pPr>
              <a:defRPr sz="1300">
                <a:solidFill>
                  <a:srgbClr val="CCD6F6"/>
                </a:solidFill>
              </a:defRPr>
            </a:pPr>
            <a:r>
              <a:t>Achieve 100% test coverage using custom simulations spanning extreme scale boundaries (-128 to +127).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Literature Survey / Existing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11680"/>
          <a:ext cx="1080820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64FFDA"/>
                          </a:solidFill>
                        </a:defRPr>
                      </a:pPr>
                      <a:r>
                        <a:t>Design Aspect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64FFDA"/>
                          </a:solidFill>
                        </a:defRPr>
                      </a:pPr>
                      <a:r>
                        <a:t>Conventional Architecture Solutions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64FFDA"/>
                          </a:solidFill>
                        </a:defRPr>
                      </a:pPr>
                      <a:r>
                        <a:t>Imposed Limitations / Disadvantages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Functional Layout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rPr dirty="0"/>
                        <a:t>Isolated hardware structures deployed independently for adding and subtracting routines.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High structural footprint on layout; redundant logic layouts.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Sign Resolution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Pre-processing using external MUX paths to compute inversion routines before calculations.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Increases signal propagation delays across execution loops.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Flag Tracking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t>Basic condition monitoring tracking simple carry out limits without handling signed states.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CD6F6"/>
                          </a:solidFill>
                        </a:defRPr>
                      </a:pPr>
                      <a:r>
                        <a:rPr dirty="0"/>
                        <a:t>Fails to flag signed arithmetic exceptions or overflow states properly.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Proposed Unified Core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329184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4FFDA"/>
                </a:solidFill>
              </a:defRPr>
            </a:pPr>
            <a:r>
              <a:t>Unified Execution Core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Merges adder and subtractor channels into a single structural path using dynamic conditional complement matrices.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286000"/>
            <a:ext cx="329184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4FFDA"/>
                </a:solidFill>
              </a:defRPr>
            </a:pPr>
            <a:r>
              <a:t>Native Sign Support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Operates directly within two's complement constraints across raw registers spanning [-128 to +127].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2286000"/>
            <a:ext cx="3291840" cy="3474720"/>
          </a:xfrm>
          <a:prstGeom prst="rect">
            <a:avLst/>
          </a:prstGeom>
          <a:solidFill>
            <a:srgbClr val="172A45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4FFDA"/>
                </a:solidFill>
              </a:defRPr>
            </a:pPr>
            <a:r>
              <a:t>Performance Leap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Optimizes hardware area layout, cleans routing congestion, and computes flag responses instantly in a single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System Architecture &amp; Structural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2286000" cy="201168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64FFDA"/>
                </a:solidFill>
              </a:defRPr>
            </a:pPr>
            <a:r>
              <a:t>INPUT DATA BUS</a:t>
            </a:r>
          </a:p>
          <a:p>
            <a:pPr algn="ctr">
              <a:defRPr sz="1100">
                <a:solidFill>
                  <a:srgbClr val="CCD6F6"/>
                </a:solidFill>
              </a:defRPr>
            </a:pPr>
            <a:r>
              <a:t>A[7:0], B[7:0]</a:t>
            </a:r>
            <a:br/>
            <a:r>
              <a:t>Opcode [2:0]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2743200"/>
            <a:ext cx="2286000" cy="201168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64FFDA"/>
                </a:solidFill>
              </a:defRPr>
            </a:pPr>
            <a:r>
              <a:t>XOR COMPLEMENTER</a:t>
            </a:r>
          </a:p>
          <a:p>
            <a:pPr algn="ctr">
              <a:defRPr sz="1100">
                <a:solidFill>
                  <a:srgbClr val="CCD6F6"/>
                </a:solidFill>
              </a:defRPr>
            </a:pPr>
            <a:r>
              <a:t>Conditional Sign Inverter</a:t>
            </a:r>
            <a:br/>
            <a:r>
              <a:t>(Controlled by Opcode)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743200"/>
            <a:ext cx="2286000" cy="201168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64FFDA"/>
                </a:solidFill>
              </a:defRPr>
            </a:pPr>
            <a:r>
              <a:t>8-BIT PROCESSING CORE</a:t>
            </a:r>
          </a:p>
          <a:p>
            <a:pPr algn="ctr">
              <a:defRPr sz="1100">
                <a:solidFill>
                  <a:srgbClr val="CCD6F6"/>
                </a:solidFill>
              </a:defRPr>
            </a:pPr>
            <a:r>
              <a:t>Unified Ripple Carry / Carry Lookahead Adder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743200"/>
            <a:ext cx="2286000" cy="2011680"/>
          </a:xfrm>
          <a:prstGeom prst="roundRect">
            <a:avLst/>
          </a:prstGeom>
          <a:solidFill>
            <a:srgbClr val="172A45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64FFDA"/>
                </a:solidFill>
              </a:defRPr>
            </a:pPr>
            <a:r>
              <a:t>OUTPUT MATRIX</a:t>
            </a:r>
          </a:p>
          <a:p>
            <a:pPr algn="ctr">
              <a:defRPr sz="1100">
                <a:solidFill>
                  <a:srgbClr val="CCD6F6"/>
                </a:solidFill>
              </a:defRPr>
            </a:pPr>
            <a:r>
              <a:t>Result [7:0]</a:t>
            </a:r>
            <a:br/>
            <a:r>
              <a:t>Flags: [V, Z, N]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520440"/>
            <a:ext cx="365760" cy="365760"/>
          </a:xfrm>
          <a:prstGeom prst="rightArrow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897880" y="3520440"/>
            <a:ext cx="365760" cy="365760"/>
          </a:xfrm>
          <a:prstGeom prst="rightArrow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732520" y="3520440"/>
            <a:ext cx="365760" cy="365760"/>
          </a:xfrm>
          <a:prstGeom prst="rightArrow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Methodology &amp; Operational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Execution Sequence: </a:t>
            </a:r>
            <a:r>
              <a:rPr sz="1600">
                <a:solidFill>
                  <a:srgbClr val="CCD6F6"/>
                </a:solidFill>
              </a:rPr>
              <a:t>Architectural planning -&gt; Verilog RTL behavior coding -&gt; Logic validation via compilation testbeds.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Hardware Inversion Math: </a:t>
            </a:r>
            <a:r>
              <a:rPr sz="1600">
                <a:solidFill>
                  <a:srgbClr val="CCD6F6"/>
                </a:solidFill>
              </a:rPr>
              <a:t>Subtraction is achieved without dedicated hardware: A - B = A + (~B + 1). When subtraction triggers, the system automatically runs bitwise inversion and forces Carry-In (cin = 1).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Overflow Flag Expression (V): </a:t>
            </a:r>
            <a:r>
              <a:rPr sz="1600">
                <a:solidFill>
                  <a:srgbClr val="CCD6F6"/>
                </a:solidFill>
              </a:rPr>
              <a:t>Derived directly from sign bit anomalies:
Overflow = (A7 . B7 . ~Result7) + (~A7 . ~B7 . Result7)
Triggers whenever combining identical signs fields yields opposite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Results, Waveforms &amp; Test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11680"/>
          <a:ext cx="1082009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4FFDA"/>
                          </a:solidFill>
                        </a:defRPr>
                      </a:pPr>
                      <a:r>
                        <a:t>Operand A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4FFDA"/>
                          </a:solidFill>
                        </a:defRPr>
                      </a:pPr>
                      <a:r>
                        <a:t>Operand B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4FFDA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4FFDA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4FFDA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4FFDA"/>
                          </a:solidFill>
                        </a:defRPr>
                      </a:pPr>
                      <a:r>
                        <a:t>Active Flags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Addition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None (All 0)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Addition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130 (Overflows Scale)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-126 (Wrapped output)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V = 1, N =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-50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Subtraction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-70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-70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D6F6"/>
                          </a:solidFill>
                        </a:defRPr>
                      </a:pPr>
                      <a:r>
                        <a:t>N =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76072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FFDA"/>
                </a:solidFill>
              </a:defRPr>
            </a:pPr>
            <a:r>
              <a:t>* Validation Environment structured within EDA tools (ModelSim / Xilinx Vivado suite) yielding 100% test scenario convergence.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FFDA"/>
                </a:solidFill>
                <a:latin typeface="Arial"/>
              </a:defRPr>
            </a:pPr>
            <a:r>
              <a:t>Conclusion &amp; Future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Project Summary: </a:t>
            </a:r>
            <a:r>
              <a:rPr sz="1600">
                <a:solidFill>
                  <a:srgbClr val="CCD6F6"/>
                </a:solidFill>
              </a:rPr>
              <a:t>Designed and functionally validated a unified, single-cycle high-speed 8-bit signed arithmetic processing core.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Key Achievements: </a:t>
            </a:r>
            <a:r>
              <a:rPr sz="1600">
                <a:solidFill>
                  <a:srgbClr val="CCD6F6"/>
                </a:solidFill>
              </a:rPr>
              <a:t>Minimized architectural layout requirements by unifying routing paths and implemented instantaneous status exception tracking (Overflow, Zero, Sign).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64FFDA"/>
                </a:solidFill>
              </a:rPr>
              <a:t>▪  Future Scope: </a:t>
            </a:r>
            <a:r>
              <a:rPr sz="1600">
                <a:solidFill>
                  <a:srgbClr val="CCD6F6"/>
                </a:solidFill>
              </a:rPr>
              <a:t>The core is fully modular and can be expanded into 16/32-bit execution layers or embedded straight into the execution pipeline of custom RISC-V computing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735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ksrutwiksharma.2008@outlook.com</cp:lastModifiedBy>
  <cp:revision>5</cp:revision>
  <dcterms:created xsi:type="dcterms:W3CDTF">2013-01-27T09:14:16Z</dcterms:created>
  <dcterms:modified xsi:type="dcterms:W3CDTF">2026-09-11T09:31:42Z</dcterms:modified>
  <cp:category/>
</cp:coreProperties>
</file>